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embeddedFontLst>
    <p:embeddedFont>
      <p:font typeface="Climate Crisis"/>
      <p:regular r:id="rId18"/>
    </p:embeddedFont>
    <p:embeddedFont>
      <p:font typeface="DM Sans"/>
      <p:regular r:id="rId19"/>
    </p:embeddedFont>
    <p:embeddedFont>
      <p:font typeface="DM Serif Text"/>
      <p:regular r:id="rId20"/>
    </p:embeddedFont>
    <p:embeddedFont>
      <p:font typeface="DM Serif Display"/>
      <p:regular r:id="rId21"/>
    </p:embeddedFont>
    <p:embeddedFont>
      <p:font typeface="Inter"/>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rId18.fntdata"/><Relationship Id="rId19" Type="http://schemas.openxmlformats.org/officeDocument/2006/relationships/font" Target="fonts/rId19.fntdata"/><Relationship Id="rId20" Type="http://schemas.openxmlformats.org/officeDocument/2006/relationships/font" Target="fonts/rId20.fntdata"/><Relationship Id="rId21" Type="http://schemas.openxmlformats.org/officeDocument/2006/relationships/font" Target="fonts/rId21.fntdata"/><Relationship Id="rId22" Type="http://schemas.openxmlformats.org/officeDocument/2006/relationships/font" Target="fonts/rId2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AppDynamics allows business to monitor the performance of their most valuable Apps
This monitoring and reporting is done by something called agents
Agents are like watch dogs, or a smoke alarm, that alert DevOps engineers of any potential failure within their application environment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Installing monitoring agents at scale was a bottleneck for enterprise clients
Agent install is one of the most painful experiences within AppDynamics 
Agent install is a very manual process and has led to the loss of contracts
The agents need to be downloaded and installed one at a time
There’s no way to download multiple agents all at once
There’s no way to pause or resume monitoring in the UI. 
Updating the agents is also a manual process
No ability to trigger an update across all the agents
Before an agent is deployed, it must first be mapped to an app and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lead designer, I collaborated with engineering and product teams to deliver a scalable platform that empowered developers to deploy agents efficiently.
I owned the end-to-end redesign, from competitive analysis to prototype testing and stakeholder presentations. 
Leading user research to validate assumptions and gain user insights.
Designing a streamlined, automated solution that would enhance setup efficiency and clarity.
Role: Led design overhaul, collaborating with Product, Engineering, and Research teams to create a streamlined installation experience.
Who I partnered with
Engineering leads
Product Managers
UX Research team
My Role
Led a design team of 2 from my team of 5 direct reports.
Project planning, requirements gathering and strategy 
User Journeys, wireframing and prototyping
Research and customer interviews 
Executive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accelerate progress, I worked closely with engineers to prototype early solutions, enabling them to start development while refining user flows.
This was complex, but....
It’s basically a grouping and sorting exercise. People had objects; in this case processes, that were part of a virtual host environment, and they needed to be grouped into apps and tiers for monitoring. This all sat on a physical server. 
Part of what took so long during set up is that before an agent could be deployed, it had to be physically mapped to a specific app and tier. Any additional categorization had to be included as part of lengthy naming structure. 
Each agent had to be downloaded one at a time, with no ability to download all the agents at once. Some companies have thousands of apps, across hundreds of servers.
Once agents start reporting, they visually map onto a topology we call the flow map. 
I wondered if we could take this flow map and make it part of the agent install experience to visually illustrate that the agents installed correctly, and show how the environment was connected?
Once we had a vision we aspired to, we set out to build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had a vision we aspired to, we set out to build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wasn’t just about solving immediate pain points. I designed a modular architecture that supported integrations with future tools and evolving enterprise needs.
Conducted a competitive analysis of industry leaders (Dynatrace, New Relic) and spoke with DevOps engineers to understand pain points and industry standards.
I created detailed interaction flows and prototypes that addressed the nuances of technical workflows, ensuring clarity and ease of use for developers across varying levels of expertise.
Simplified to single block of code
Enable grouping and sorting via tagging structure
Enabling self serve, by providing a UI to allow DevOps engineers to deploy independently
Reduce effort with automatic detection of all the process running via one click set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Adjusted design based on feedback to improve task flows and eliminate friction points, such as complex naming conventions.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Regularly engaging with engineers and stakeholders, I clearly articulated design rationale and trade-offs, such as balancing customization with simplicity to optimize usability.
Tradeoffs was in-context flow map
Worked closely with Product Managers to refine project scope based on user needs and development capabilities, ensuring alignment with business goals.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platform simplified a complex, technical process into a seamless, self-service experience. Developers could now deploy agents in minutes, significantly improving productivity.
The developer has control of naming, which can be updated and changed
The option to pick and choose between the type and versions of these agents
Bulk install
Customization and control to monitor only important tiers 
Automated Process Detection: Enabled automatic detection of applications on the server, grouping them by relevance to reduce cognitive load.
Auto-suggesting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incorporating users into the feedback and testing, they felt heard, and involved 
By conducting user interviews and analyzing workflows, I identified pain points and opportunities, ensuring the platform addressed immediate needs while laying the groundwork for future enhancements.
Streamlined task flows and automated tagging enabled more control and clarity for users managing large environments.
Key Metrics:
	•	Time Savings: Reduced setup time, allowing faster, more efficient installations.
	•	Customer Satisfaction: User feedback showed significant improvement in ease of use and setup efficiency, leading to reduced support requests.
	•	Business Impact: The redesign helped retain customers who previously struggled with setup, aligning with the company’s business objective of reducing customer churn.
	•	User-Centered Outcomes:
	•	Improved accessibility of the installation process, empowering DevOps professionals to perform installations independently, without the need for extensive support.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taught me a lot about designing for scale, which helped significantly when designing for a multi-sided market place at One Medical 	
What I Learned:
	•	Importance of Automation: This project reinforced the impact that streamlined, automated solutions can have on user satisfaction and time savings.
	•	Collaboration: Working closely with Engineering and Product taught me the value of ongoing alignment to ensure feasibility and maximize impact.
	•	User-Centered Design: Validating designs with real users highlighted the importance of reducing cognitive load and complexity in enterprise software.
Impact: Successfully reduced agent installation setup time, increased customer satisfaction, and decreased support requests for installation help.
What Worked Well: Automation of process detection and user-friendly labeling improved accessibility and reduced cognitive load during installation.
Lessons Learned: Importance of providing bulk installation options for large-scale deployments and building solutions to support complex environments with simplified user flows.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slideLayout" Target="../slideLayouts/slideLayout1.xml"/><Relationship Id="rId2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0" y="1962748"/>
            <a:ext cx="9183630" cy="2879494"/>
          </a:xfrm>
          <a:prstGeom prst="rect">
            <a:avLst/>
          </a:prstGeom>
        </p:spPr>
      </p:pic>
      <p:pic>
        <p:nvPicPr>
          <p:cNvPr id="4" name="Image 1" descr="preencoded.png">    </p:cNvPr>
          <p:cNvPicPr>
            <a:picLocks noChangeAspect="1"/>
          </p:cNvPicPr>
          <p:nvPr/>
        </p:nvPicPr>
        <p:blipFill>
          <a:blip r:embed="rId2"/>
          <a:srcRect l="0" r="0" t="0" b="0"/>
          <a:stretch/>
        </p:blipFill>
        <p:spPr>
          <a:xfrm>
            <a:off x="0" y="1966050"/>
            <a:ext cx="9115592" cy="3178453"/>
          </a:xfrm>
          <a:prstGeom prst="rect">
            <a:avLst/>
          </a:prstGeom>
        </p:spPr>
      </p:pic>
      <p:sp>
        <p:nvSpPr>
          <p:cNvPr id="5" name="Text 0"/>
          <p:cNvSpPr/>
          <p:nvPr/>
        </p:nvSpPr>
        <p:spPr>
          <a:xfrm>
            <a:off x="342900" y="438150"/>
            <a:ext cx="7834313" cy="595313"/>
          </a:xfrm>
          <a:prstGeom prst="rect">
            <a:avLst/>
          </a:prstGeom>
          <a:noFill/>
          <a:ln/>
        </p:spPr>
        <p:txBody>
          <a:bodyPr wrap="square" lIns="0" tIns="0" rIns="0" bIns="0" rtlCol="0" anchor="t"/>
          <a:lstStyle/>
          <a:p>
            <a:pPr algn="l" indent="0" marL="0">
              <a:lnSpc>
                <a:spcPts val="4734"/>
              </a:lnSpc>
              <a:buNone/>
            </a:pPr>
            <a:r>
              <a:rPr lang="en-US" sz="4881" spc="-146" kern="0" dirty="0">
                <a:solidFill>
                  <a:srgbClr val="000000">
                    <a:alpha val="99000"/>
                  </a:srgbClr>
                </a:solidFill>
                <a:latin typeface="Climate Crisis" pitchFamily="34" charset="0"/>
                <a:ea typeface="Climate Crisis" pitchFamily="34" charset="-122"/>
                <a:cs typeface="Climate Crisis" pitchFamily="34" charset="-120"/>
              </a:rPr>
              <a:t>Simplifying Agent Installation</a:t>
            </a:r>
            <a:endParaRPr lang="en-US" sz="4881" dirty="0"/>
          </a:p>
        </p:txBody>
      </p:sp>
      <p:sp>
        <p:nvSpPr>
          <p:cNvPr id="6" name="Text 1"/>
          <p:cNvSpPr/>
          <p:nvPr/>
        </p:nvSpPr>
        <p:spPr>
          <a:xfrm>
            <a:off x="0" y="4305300"/>
            <a:ext cx="9144000" cy="838200"/>
          </a:xfrm>
          <a:prstGeom prst="rect">
            <a:avLst/>
          </a:prstGeom>
          <a:solidFill>
            <a:srgbClr val="141414"/>
          </a:solidFill>
          <a:ln/>
        </p:spPr>
        <p:txBody>
          <a:bodyPr wrap="square" rtlCol="0" anchor="ctr"/>
          <a:lstStyle/>
          <a:p>
            <a:pPr indent="0" marL="0">
              <a:buNone/>
            </a:pPr>
            <a:endParaRPr lang="en-US" dirty="0"/>
          </a:p>
        </p:txBody>
      </p:sp>
      <p:sp>
        <p:nvSpPr>
          <p:cNvPr id="7" name="Text 2"/>
          <p:cNvSpPr/>
          <p:nvPr/>
        </p:nvSpPr>
        <p:spPr>
          <a:xfrm>
            <a:off x="342900" y="4429125"/>
            <a:ext cx="3195638" cy="561975"/>
          </a:xfrm>
          <a:prstGeom prst="rect">
            <a:avLst/>
          </a:prstGeom>
          <a:noFill/>
          <a:ln/>
        </p:spPr>
        <p:txBody>
          <a:bodyPr wrap="square" lIns="0" tIns="0" rIns="0" bIns="0" rtlCol="0" anchor="t"/>
          <a:lstStyle/>
          <a:p>
            <a:pPr algn="l" indent="0" marL="0">
              <a:lnSpc>
                <a:spcPts val="2116"/>
              </a:lnSpc>
              <a:buNone/>
            </a:pPr>
            <a:r>
              <a:rPr lang="en-US" sz="1568" dirty="0">
                <a:solidFill>
                  <a:srgbClr val="FFFFFF">
                    <a:alpha val="99000"/>
                  </a:srgbClr>
                </a:solidFill>
                <a:latin typeface="DM Sans" pitchFamily="34" charset="0"/>
                <a:ea typeface="DM Sans" pitchFamily="34" charset="-122"/>
                <a:cs typeface="DM Sans" pitchFamily="34" charset="-120"/>
              </a:rPr>
              <a:t>Simplifying Agent Installation for Speed and Efficiency</a:t>
            </a:r>
            <a:endParaRPr lang="en-US" sz="1568" dirty="0"/>
          </a:p>
        </p:txBody>
      </p:sp>
      <p:sp>
        <p:nvSpPr>
          <p:cNvPr id="8" name="Text 3"/>
          <p:cNvSpPr/>
          <p:nvPr/>
        </p:nvSpPr>
        <p:spPr>
          <a:xfrm>
            <a:off x="342900" y="157163"/>
            <a:ext cx="2752725" cy="204788"/>
          </a:xfrm>
          <a:prstGeom prst="rect">
            <a:avLst/>
          </a:prstGeom>
          <a:noFill/>
          <a:ln/>
        </p:spPr>
        <p:txBody>
          <a:bodyPr wrap="square" lIns="0" tIns="0" rIns="0" bIns="0" rtlCol="0" anchor="t"/>
          <a:lstStyle/>
          <a:p>
            <a:pPr algn="l" indent="0" marL="0">
              <a:lnSpc>
                <a:spcPts val="1297"/>
              </a:lnSpc>
              <a:buNone/>
            </a:pPr>
            <a:r>
              <a:rPr lang="en-US" sz="926" dirty="0">
                <a:solidFill>
                  <a:srgbClr val="000000">
                    <a:alpha val="99000"/>
                  </a:srgbClr>
                </a:solidFill>
                <a:latin typeface="DM Sans" pitchFamily="34" charset="0"/>
                <a:ea typeface="DM Sans" pitchFamily="34" charset="-122"/>
                <a:cs typeface="DM Sans" pitchFamily="34" charset="-120"/>
              </a:rPr>
              <a:t>AppDynamics</a:t>
            </a:r>
            <a:endParaRPr lang="en-US" sz="926" dirty="0"/>
          </a:p>
        </p:txBody>
      </p:sp>
      <p:pic>
        <p:nvPicPr>
          <p:cNvPr id="9" name="Image 2" descr="preencoded.png">    </p:cNvPr>
          <p:cNvPicPr>
            <a:picLocks noChangeAspect="1"/>
          </p:cNvPicPr>
          <p:nvPr/>
        </p:nvPicPr>
        <p:blipFill>
          <a:blip r:embed="rId3"/>
          <a:srcRect l="0" r="0" t="0" b="0"/>
          <a:stretch/>
        </p:blipFill>
        <p:spPr>
          <a:xfrm>
            <a:off x="76200" y="157163"/>
            <a:ext cx="185738" cy="1857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800100" y="1905000"/>
            <a:ext cx="3633107" cy="671513"/>
          </a:xfrm>
          <a:prstGeom prst="rect">
            <a:avLst/>
          </a:prstGeom>
          <a:noFill/>
          <a:ln/>
        </p:spPr>
        <p:txBody>
          <a:bodyPr wrap="square" lIns="0" tIns="0" rIns="0" bIns="0" rtlCol="0" anchor="t"/>
          <a:lstStyle/>
          <a:p>
            <a:pPr algn="l" indent="0" marL="0">
              <a:lnSpc>
                <a:spcPts val="1672"/>
              </a:lnSpc>
              <a:buNone/>
            </a:pPr>
            <a:r>
              <a:rPr lang="en-US" sz="1672" spc="-37" kern="0" dirty="0">
                <a:solidFill>
                  <a:srgbClr val="FFFFFF">
                    <a:alpha val="99000"/>
                  </a:srgbClr>
                </a:solidFill>
                <a:latin typeface="DM Serif Text" pitchFamily="34" charset="0"/>
                <a:ea typeface="DM Serif Text" pitchFamily="34" charset="-122"/>
                <a:cs typeface="DM Serif Text" pitchFamily="34" charset="-120"/>
              </a:rPr>
              <a:t>Agent installation had become a customer pain point, leading to lengthy setup times and lost contracts.</a:t>
            </a:r>
            <a:endParaRPr lang="en-US" sz="1672" dirty="0"/>
          </a:p>
        </p:txBody>
      </p:sp>
      <p:pic>
        <p:nvPicPr>
          <p:cNvPr id="4" name="Image 0" descr="preencoded.png">    </p:cNvPr>
          <p:cNvPicPr>
            <a:picLocks noChangeAspect="1"/>
          </p:cNvPicPr>
          <p:nvPr/>
        </p:nvPicPr>
        <p:blipFill>
          <a:blip r:embed="rId1"/>
          <a:srcRect l="0" r="31481" t="0" b="0"/>
          <a:stretch/>
        </p:blipFill>
        <p:spPr>
          <a:xfrm>
            <a:off x="4572000" y="738188"/>
            <a:ext cx="4572000" cy="36085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CF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2934" t="0" b="22968"/>
          <a:stretch/>
        </p:blipFill>
        <p:spPr>
          <a:xfrm>
            <a:off x="1738313" y="990600"/>
            <a:ext cx="7405688" cy="4152900"/>
          </a:xfrm>
          <a:prstGeom prst="rect">
            <a:avLst/>
          </a:prstGeom>
        </p:spPr>
      </p:pic>
      <p:sp>
        <p:nvSpPr>
          <p:cNvPr id="4" name="Text 0"/>
          <p:cNvSpPr/>
          <p:nvPr/>
        </p:nvSpPr>
        <p:spPr>
          <a:xfrm>
            <a:off x="352425" y="609600"/>
            <a:ext cx="7588361" cy="1552575"/>
          </a:xfrm>
          <a:prstGeom prst="rect">
            <a:avLst/>
          </a:prstGeom>
          <a:noFill/>
          <a:ln/>
        </p:spPr>
        <p:txBody>
          <a:bodyPr wrap="square" lIns="0" tIns="0" rIns="0" bIns="0" rtlCol="0" anchor="t"/>
          <a:lstStyle/>
          <a:p>
            <a:pPr algn="l" indent="0" marL="0">
              <a:lnSpc>
                <a:spcPts val="5796"/>
              </a:lnSpc>
              <a:buNone/>
            </a:pPr>
            <a:r>
              <a:rPr lang="en-US" sz="5975" spc="-179" kern="0" dirty="0">
                <a:solidFill>
                  <a:srgbClr val="5337B8">
                    <a:alpha val="99000"/>
                  </a:srgbClr>
                </a:solidFill>
                <a:latin typeface="Climate Crisis" pitchFamily="34" charset="0"/>
                <a:ea typeface="Climate Crisis" pitchFamily="34" charset="-122"/>
                <a:cs typeface="Climate Crisis" pitchFamily="34" charset="-120"/>
              </a:rPr>
              <a:t>Reducing Complexity</a:t>
            </a:r>
            <a:endParaRPr lang="en-US" sz="5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p:bgPr>
    </p:bg>
    <p:spTree>
      <p:nvGrpSpPr>
        <p:cNvPr id="1" name=""/>
        <p:cNvGrpSpPr/>
        <p:nvPr/>
      </p:nvGrpSpPr>
      <p:grpSpPr>
        <a:xfrm>
          <a:off x="0" y="0"/>
          <a:ext cx="0" cy="0"/>
          <a:chOff x="0" y="0"/>
          <a:chExt cx="0" cy="0"/>
        </a:xfrm>
      </p:grpSpPr>
      <p:sp>
        <p:nvSpPr>
          <p:cNvPr id="3" name="Text 0"/>
          <p:cNvSpPr/>
          <p:nvPr/>
        </p:nvSpPr>
        <p:spPr>
          <a:xfrm>
            <a:off x="800100" y="3328988"/>
            <a:ext cx="3500438" cy="1295400"/>
          </a:xfrm>
          <a:prstGeom prst="rect">
            <a:avLst/>
          </a:prstGeom>
          <a:noFill/>
          <a:ln/>
        </p:spPr>
        <p:txBody>
          <a:bodyPr wrap="square" lIns="0" tIns="0" rIns="0" bIns="0" rtlCol="0" anchor="t"/>
          <a:lstStyle/>
          <a:p>
            <a:pPr algn="l" indent="0" marL="0">
              <a:lnSpc>
                <a:spcPts val="4838"/>
              </a:lnSpc>
              <a:buNone/>
            </a:pPr>
            <a:r>
              <a:rPr lang="en-US" sz="4988" spc="-150" kern="0" dirty="0">
                <a:solidFill>
                  <a:srgbClr val="FFFFFF">
                    <a:alpha val="99000"/>
                  </a:srgbClr>
                </a:solidFill>
                <a:latin typeface="DM Serif Display" pitchFamily="34" charset="0"/>
                <a:ea typeface="DM Serif Display" pitchFamily="34" charset="-122"/>
                <a:cs typeface="DM Serif Display" pitchFamily="34" charset="-120"/>
              </a:rPr>
              <a:t>Feasibility </a:t>
            </a:r>
            <a:endParaRPr lang="en-US" sz="4988" dirty="0"/>
          </a:p>
          <a:p>
            <a:pPr algn="l" indent="0" marL="0">
              <a:lnSpc>
                <a:spcPts val="4838"/>
              </a:lnSpc>
              <a:buNone/>
            </a:pPr>
            <a:r>
              <a:rPr lang="en-US" sz="4988" spc="-150" kern="0" dirty="0">
                <a:solidFill>
                  <a:srgbClr val="FFFFFF">
                    <a:alpha val="99000"/>
                  </a:srgbClr>
                </a:solidFill>
                <a:latin typeface="DM Serif Display" pitchFamily="34" charset="0"/>
                <a:ea typeface="DM Serif Display" pitchFamily="34" charset="-122"/>
                <a:cs typeface="DM Serif Display" pitchFamily="34" charset="-120"/>
              </a:rPr>
              <a:t>partners</a:t>
            </a:r>
            <a:endParaRPr lang="en-US" sz="4988" dirty="0"/>
          </a:p>
        </p:txBody>
      </p:sp>
      <p:pic>
        <p:nvPicPr>
          <p:cNvPr id="4" name="Image 0" descr="preencoded.png">    </p:cNvPr>
          <p:cNvPicPr>
            <a:picLocks noChangeAspect="1"/>
          </p:cNvPicPr>
          <p:nvPr/>
        </p:nvPicPr>
        <p:blipFill>
          <a:blip r:embed="rId1"/>
          <a:srcRect l="0" r="0" t="0" b="0"/>
          <a:stretch/>
        </p:blipFill>
        <p:spPr>
          <a:xfrm>
            <a:off x="266700" y="266700"/>
            <a:ext cx="5295900" cy="2809875"/>
          </a:xfrm>
          <a:prstGeom prst="rect">
            <a:avLst/>
          </a:prstGeom>
        </p:spPr>
      </p:pic>
      <p:pic>
        <p:nvPicPr>
          <p:cNvPr id="5" name="Image 1" descr="preencoded.png">    </p:cNvPr>
          <p:cNvPicPr>
            <a:picLocks noChangeAspect="1"/>
          </p:cNvPicPr>
          <p:nvPr/>
        </p:nvPicPr>
        <p:blipFill>
          <a:blip r:embed="rId2"/>
          <a:srcRect l="0" r="0" t="0" b="0"/>
          <a:stretch/>
        </p:blipFill>
        <p:spPr>
          <a:xfrm>
            <a:off x="4572000" y="2443163"/>
            <a:ext cx="3919537" cy="2486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1E6EC"/>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12528" t="0" b="7108"/>
          <a:stretch/>
        </p:blipFill>
        <p:spPr>
          <a:xfrm>
            <a:off x="-471487" y="-276225"/>
            <a:ext cx="9144000" cy="3609975"/>
          </a:xfrm>
          <a:prstGeom prst="rect">
            <a:avLst/>
          </a:prstGeom>
        </p:spPr>
      </p:pic>
      <p:sp>
        <p:nvSpPr>
          <p:cNvPr id="4" name="Text 0"/>
          <p:cNvSpPr/>
          <p:nvPr/>
        </p:nvSpPr>
        <p:spPr>
          <a:xfrm>
            <a:off x="476250" y="3705225"/>
            <a:ext cx="2362200" cy="614363"/>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Deliver a streamlined, automated solution that would enhance setup efficiency and clarity.</a:t>
            </a:r>
            <a:endParaRPr lang="en-US" sz="1140" dirty="0"/>
          </a:p>
        </p:txBody>
      </p:sp>
      <p:sp>
        <p:nvSpPr>
          <p:cNvPr id="5" name="Text 1"/>
          <p:cNvSpPr/>
          <p:nvPr/>
        </p:nvSpPr>
        <p:spPr>
          <a:xfrm>
            <a:off x="3414713" y="3705225"/>
            <a:ext cx="2300288" cy="819150"/>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improve customer retention, enable more customers to self-serve and setup without the need of additional support</a:t>
            </a:r>
            <a:endParaRPr lang="en-US" sz="1140" dirty="0"/>
          </a:p>
        </p:txBody>
      </p:sp>
      <p:sp>
        <p:nvSpPr>
          <p:cNvPr id="6" name="Text 2"/>
          <p:cNvSpPr/>
          <p:nvPr/>
        </p:nvSpPr>
        <p:spPr>
          <a:xfrm>
            <a:off x="6348413" y="3705225"/>
            <a:ext cx="2495550" cy="409575"/>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Reduce setup time, and improve </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user satisfaction</a:t>
            </a:r>
            <a:endParaRPr lang="en-US" sz="1140" dirty="0"/>
          </a:p>
        </p:txBody>
      </p:sp>
      <p:sp>
        <p:nvSpPr>
          <p:cNvPr id="7" name="Text 3"/>
          <p:cNvSpPr/>
          <p:nvPr/>
        </p:nvSpPr>
        <p:spPr>
          <a:xfrm>
            <a:off x="476250" y="3252788"/>
            <a:ext cx="1514475"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User Goal</a:t>
            </a:r>
            <a:endParaRPr lang="en-US" sz="1532" dirty="0"/>
          </a:p>
        </p:txBody>
      </p:sp>
      <p:sp>
        <p:nvSpPr>
          <p:cNvPr id="8" name="Text 4"/>
          <p:cNvSpPr/>
          <p:nvPr/>
        </p:nvSpPr>
        <p:spPr>
          <a:xfrm>
            <a:off x="3414713" y="3252788"/>
            <a:ext cx="2157413"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Business Goal</a:t>
            </a:r>
            <a:endParaRPr lang="en-US" sz="1532" dirty="0"/>
          </a:p>
        </p:txBody>
      </p:sp>
      <p:sp>
        <p:nvSpPr>
          <p:cNvPr id="9" name="Text 5"/>
          <p:cNvSpPr/>
          <p:nvPr/>
        </p:nvSpPr>
        <p:spPr>
          <a:xfrm>
            <a:off x="6348413" y="3252788"/>
            <a:ext cx="1514475" cy="276225"/>
          </a:xfrm>
          <a:prstGeom prst="rect">
            <a:avLst/>
          </a:prstGeom>
          <a:noFill/>
          <a:ln/>
        </p:spPr>
        <p:txBody>
          <a:bodyPr wrap="square" lIns="0" tIns="0" rIns="0" bIns="0" rtlCol="0" anchor="t"/>
          <a:lstStyle/>
          <a:p>
            <a:pPr algn="l" indent="0" marL="0">
              <a:lnSpc>
                <a:spcPts val="2068"/>
              </a:lnSpc>
              <a:buNone/>
            </a:pPr>
            <a:r>
              <a:rPr lang="en-US" sz="1532" spc="92" kern="0" dirty="0">
                <a:solidFill>
                  <a:srgbClr val="4E3EB1">
                    <a:alpha val="99000"/>
                  </a:srgbClr>
                </a:solidFill>
                <a:latin typeface="Climate Crisis" pitchFamily="34" charset="0"/>
                <a:ea typeface="Climate Crisis" pitchFamily="34" charset="-122"/>
                <a:cs typeface="Climate Crisis" pitchFamily="34" charset="-120"/>
              </a:rPr>
              <a:t>Measures</a:t>
            </a:r>
            <a:endParaRPr lang="en-US" sz="1532" dirty="0"/>
          </a:p>
        </p:txBody>
      </p:sp>
      <p:pic>
        <p:nvPicPr>
          <p:cNvPr id="10" name="Image 1" descr="preencoded.png">    </p:cNvPr>
          <p:cNvPicPr>
            <a:picLocks noChangeAspect="1"/>
          </p:cNvPicPr>
          <p:nvPr/>
        </p:nvPicPr>
        <p:blipFill>
          <a:blip r:embed="rId2"/>
          <a:srcRect l="0" r="0" t="0" b="0"/>
          <a:stretch/>
        </p:blipFill>
        <p:spPr>
          <a:xfrm>
            <a:off x="195263" y="723900"/>
            <a:ext cx="2839227" cy="2122647"/>
          </a:xfrm>
          <a:prstGeom prst="rect">
            <a:avLst/>
          </a:prstGeom>
        </p:spPr>
      </p:pic>
      <p:pic>
        <p:nvPicPr>
          <p:cNvPr id="11" name="Image 2" descr="preencoded.png">    </p:cNvPr>
          <p:cNvPicPr>
            <a:picLocks noChangeAspect="1"/>
          </p:cNvPicPr>
          <p:nvPr/>
        </p:nvPicPr>
        <p:blipFill>
          <a:blip r:embed="rId3"/>
          <a:srcRect l="0" r="0" t="0" b="0"/>
          <a:stretch/>
        </p:blipFill>
        <p:spPr>
          <a:xfrm>
            <a:off x="195263" y="723900"/>
            <a:ext cx="2801601" cy="139998"/>
          </a:xfrm>
          <a:prstGeom prst="rect">
            <a:avLst/>
          </a:prstGeom>
        </p:spPr>
      </p:pic>
      <p:sp>
        <p:nvSpPr>
          <p:cNvPr id="12" name="Shape 6"/>
          <p:cNvSpPr/>
          <p:nvPr/>
        </p:nvSpPr>
        <p:spPr>
          <a:xfrm>
            <a:off x="2703309" y="749491"/>
            <a:ext cx="51185" cy="51185"/>
          </a:xfrm>
          <a:prstGeom prst="ellipse">
            <a:avLst/>
          </a:prstGeom>
          <a:solidFill>
            <a:srgbClr val="7964C9"/>
          </a:solidFill>
          <a:ln/>
        </p:spPr>
      </p:sp>
      <p:sp>
        <p:nvSpPr>
          <p:cNvPr id="13" name="Shape 7"/>
          <p:cNvSpPr/>
          <p:nvPr/>
        </p:nvSpPr>
        <p:spPr>
          <a:xfrm>
            <a:off x="2785207" y="749491"/>
            <a:ext cx="51185" cy="51185"/>
          </a:xfrm>
          <a:prstGeom prst="ellipse">
            <a:avLst/>
          </a:prstGeom>
          <a:solidFill>
            <a:srgbClr val="7964C9"/>
          </a:solidFill>
          <a:ln/>
        </p:spPr>
      </p:sp>
      <p:sp>
        <p:nvSpPr>
          <p:cNvPr id="14" name="Shape 8"/>
          <p:cNvSpPr/>
          <p:nvPr/>
        </p:nvSpPr>
        <p:spPr>
          <a:xfrm>
            <a:off x="2867099" y="749491"/>
            <a:ext cx="51185" cy="51185"/>
          </a:xfrm>
          <a:prstGeom prst="ellipse">
            <a:avLst/>
          </a:prstGeom>
          <a:solidFill>
            <a:srgbClr val="7964C9"/>
          </a:solidFill>
          <a:ln/>
        </p:spPr>
      </p:sp>
      <p:pic>
        <p:nvPicPr>
          <p:cNvPr id="15" name="Image 3" descr="preencoded.png">    </p:cNvPr>
          <p:cNvPicPr>
            <a:picLocks noChangeAspect="1"/>
          </p:cNvPicPr>
          <p:nvPr/>
        </p:nvPicPr>
        <p:blipFill>
          <a:blip r:embed="rId4"/>
          <a:srcRect l="0" r="0" t="0" b="0"/>
          <a:stretch/>
        </p:blipFill>
        <p:spPr>
          <a:xfrm>
            <a:off x="420477" y="754612"/>
            <a:ext cx="49127" cy="45651"/>
          </a:xfrm>
          <a:prstGeom prst="rect">
            <a:avLst/>
          </a:prstGeom>
        </p:spPr>
      </p:pic>
      <p:pic>
        <p:nvPicPr>
          <p:cNvPr id="16" name="Image 4" descr="preencoded.png">    </p:cNvPr>
          <p:cNvPicPr>
            <a:picLocks noChangeAspect="1"/>
          </p:cNvPicPr>
          <p:nvPr/>
        </p:nvPicPr>
        <p:blipFill>
          <a:blip r:embed="rId5"/>
          <a:srcRect l="0" r="0" t="0" b="0"/>
          <a:stretch/>
        </p:blipFill>
        <p:spPr>
          <a:xfrm>
            <a:off x="338579" y="777643"/>
            <a:ext cx="45653" cy="34635"/>
          </a:xfrm>
          <a:prstGeom prst="rect">
            <a:avLst/>
          </a:prstGeom>
        </p:spPr>
      </p:pic>
      <p:sp>
        <p:nvSpPr>
          <p:cNvPr id="17" name="Shape 9"/>
          <p:cNvSpPr/>
          <p:nvPr/>
        </p:nvSpPr>
        <p:spPr>
          <a:xfrm>
            <a:off x="676396" y="744373"/>
            <a:ext cx="1801701" cy="61422"/>
          </a:xfrm>
          <a:prstGeom prst="roundRect">
            <a:avLst/>
          </a:prstGeom>
          <a:solidFill>
            <a:srgbClr val="CBBDFF">
              <a:alpha val="30000"/>
            </a:srgbClr>
          </a:solidFill>
          <a:ln/>
        </p:spPr>
      </p:sp>
      <p:sp>
        <p:nvSpPr>
          <p:cNvPr id="18" name="Text 10"/>
          <p:cNvSpPr/>
          <p:nvPr/>
        </p:nvSpPr>
        <p:spPr>
          <a:xfrm>
            <a:off x="717347" y="744373"/>
            <a:ext cx="1719805" cy="61422"/>
          </a:xfrm>
          <a:prstGeom prst="rect">
            <a:avLst/>
          </a:prstGeom>
          <a:noFill/>
          <a:ln/>
        </p:spPr>
        <p:txBody>
          <a:bodyPr wrap="square" lIns="0" tIns="0" rIns="0" bIns="0" rtlCol="0" anchor="ctr"/>
          <a:lstStyle/>
          <a:p>
            <a:pPr algn="ctr" indent="0" marL="0">
              <a:lnSpc>
                <a:spcPts val="422"/>
              </a:lnSpc>
              <a:buNone/>
            </a:pPr>
            <a:r>
              <a:rPr lang="en-US" sz="352" dirty="0">
                <a:solidFill>
                  <a:srgbClr val="FFFDFA">
                    <a:alpha val="99000"/>
                  </a:srgbClr>
                </a:solidFill>
                <a:latin typeface="Inter" pitchFamily="34" charset="0"/>
                <a:ea typeface="Inter" pitchFamily="34" charset="-122"/>
                <a:cs typeface="Inter" pitchFamily="34" charset="-120"/>
              </a:rPr>
              <a:t>https://www.appdynamics.com</a:t>
            </a:r>
            <a:endParaRPr lang="en-US" sz="352" dirty="0"/>
          </a:p>
        </p:txBody>
      </p:sp>
      <p:sp>
        <p:nvSpPr>
          <p:cNvPr id="19" name="Shape 11"/>
          <p:cNvSpPr/>
          <p:nvPr/>
        </p:nvSpPr>
        <p:spPr>
          <a:xfrm>
            <a:off x="195263" y="834435"/>
            <a:ext cx="2763973" cy="1937340"/>
          </a:xfrm>
          <a:prstGeom prst="rect">
            <a:avLst/>
          </a:prstGeom>
          <a:noFill/>
          <a:ln/>
        </p:spPr>
      </p:sp>
      <p:pic>
        <p:nvPicPr>
          <p:cNvPr id="20" name="Image 5" descr="preencoded.png">    </p:cNvPr>
          <p:cNvPicPr>
            <a:picLocks noChangeAspect="1"/>
          </p:cNvPicPr>
          <p:nvPr/>
        </p:nvPicPr>
        <p:blipFill>
          <a:blip r:embed="rId6"/>
          <a:srcRect l="0" r="0" t="0" b="1228"/>
          <a:stretch/>
        </p:blipFill>
        <p:spPr>
          <a:xfrm>
            <a:off x="197616" y="836786"/>
            <a:ext cx="2761022" cy="1934989"/>
          </a:xfrm>
          <a:prstGeom prst="rect">
            <a:avLst/>
          </a:prstGeom>
        </p:spPr>
      </p:pic>
      <p:pic>
        <p:nvPicPr>
          <p:cNvPr id="21" name="Image 6" descr="preencoded.png">    </p:cNvPr>
          <p:cNvPicPr>
            <a:picLocks noChangeAspect="1"/>
          </p:cNvPicPr>
          <p:nvPr/>
        </p:nvPicPr>
        <p:blipFill>
          <a:blip r:embed="rId7"/>
          <a:srcRect l="0" r="0" t="0" b="991"/>
          <a:stretch/>
        </p:blipFill>
        <p:spPr>
          <a:xfrm>
            <a:off x="195263" y="836786"/>
            <a:ext cx="2761022" cy="1934989"/>
          </a:xfrm>
          <a:prstGeom prst="rect">
            <a:avLst/>
          </a:prstGeom>
        </p:spPr>
      </p:pic>
      <p:sp>
        <p:nvSpPr>
          <p:cNvPr id="22" name="Shape 12"/>
          <p:cNvSpPr/>
          <p:nvPr/>
        </p:nvSpPr>
        <p:spPr>
          <a:xfrm>
            <a:off x="1166557" y="1443554"/>
            <a:ext cx="512694" cy="79961"/>
          </a:xfrm>
          <a:prstGeom prst="rect">
            <a:avLst/>
          </a:prstGeom>
          <a:solidFill>
            <a:srgbClr val="C4C4C4">
              <a:alpha val="0"/>
            </a:srgbClr>
          </a:solidFill>
          <a:ln/>
        </p:spPr>
      </p:sp>
      <p:pic>
        <p:nvPicPr>
          <p:cNvPr id="23" name="Image 7" descr="preencoded.png">    </p:cNvPr>
          <p:cNvPicPr>
            <a:picLocks noChangeAspect="1"/>
          </p:cNvPicPr>
          <p:nvPr/>
        </p:nvPicPr>
        <p:blipFill>
          <a:blip r:embed="rId8"/>
          <a:srcRect l="0" r="0" t="0" b="0"/>
          <a:stretch/>
        </p:blipFill>
        <p:spPr>
          <a:xfrm>
            <a:off x="3105150" y="681038"/>
            <a:ext cx="2927942" cy="2208026"/>
          </a:xfrm>
          <a:prstGeom prst="rect">
            <a:avLst/>
          </a:prstGeom>
        </p:spPr>
      </p:pic>
      <p:pic>
        <p:nvPicPr>
          <p:cNvPr id="24" name="Image 8" descr="preencoded.png">    </p:cNvPr>
          <p:cNvPicPr>
            <a:picLocks noChangeAspect="1"/>
          </p:cNvPicPr>
          <p:nvPr/>
        </p:nvPicPr>
        <p:blipFill>
          <a:blip r:embed="rId9"/>
          <a:srcRect l="0" r="0" t="0" b="0"/>
          <a:stretch/>
        </p:blipFill>
        <p:spPr>
          <a:xfrm>
            <a:off x="3105150" y="681038"/>
            <a:ext cx="2852384" cy="178405"/>
          </a:xfrm>
          <a:prstGeom prst="rect">
            <a:avLst/>
          </a:prstGeom>
        </p:spPr>
      </p:pic>
      <p:sp>
        <p:nvSpPr>
          <p:cNvPr id="25" name="Shape 13"/>
          <p:cNvSpPr/>
          <p:nvPr/>
        </p:nvSpPr>
        <p:spPr>
          <a:xfrm>
            <a:off x="5624861" y="706748"/>
            <a:ext cx="51423" cy="51423"/>
          </a:xfrm>
          <a:prstGeom prst="ellipse">
            <a:avLst/>
          </a:prstGeom>
          <a:solidFill>
            <a:srgbClr val="7964C9"/>
          </a:solidFill>
          <a:ln/>
        </p:spPr>
      </p:sp>
      <p:sp>
        <p:nvSpPr>
          <p:cNvPr id="26" name="Shape 14"/>
          <p:cNvSpPr/>
          <p:nvPr/>
        </p:nvSpPr>
        <p:spPr>
          <a:xfrm>
            <a:off x="5707135" y="706748"/>
            <a:ext cx="51423" cy="51423"/>
          </a:xfrm>
          <a:prstGeom prst="ellipse">
            <a:avLst/>
          </a:prstGeom>
          <a:solidFill>
            <a:srgbClr val="7964C9"/>
          </a:solidFill>
          <a:ln/>
        </p:spPr>
      </p:sp>
      <p:sp>
        <p:nvSpPr>
          <p:cNvPr id="27" name="Shape 15"/>
          <p:cNvSpPr/>
          <p:nvPr/>
        </p:nvSpPr>
        <p:spPr>
          <a:xfrm>
            <a:off x="5789414" y="706748"/>
            <a:ext cx="51423" cy="51423"/>
          </a:xfrm>
          <a:prstGeom prst="ellipse">
            <a:avLst/>
          </a:prstGeom>
          <a:solidFill>
            <a:srgbClr val="7964C9"/>
          </a:solidFill>
          <a:ln/>
        </p:spPr>
      </p:sp>
      <p:pic>
        <p:nvPicPr>
          <p:cNvPr id="28" name="Image 9" descr="preencoded.png">    </p:cNvPr>
          <p:cNvPicPr>
            <a:picLocks noChangeAspect="1"/>
          </p:cNvPicPr>
          <p:nvPr/>
        </p:nvPicPr>
        <p:blipFill>
          <a:blip r:embed="rId10"/>
          <a:srcRect l="0" r="0" t="0" b="0"/>
          <a:stretch/>
        </p:blipFill>
        <p:spPr>
          <a:xfrm>
            <a:off x="3331411" y="711891"/>
            <a:ext cx="54071" cy="50583"/>
          </a:xfrm>
          <a:prstGeom prst="rect">
            <a:avLst/>
          </a:prstGeom>
        </p:spPr>
      </p:pic>
      <p:pic>
        <p:nvPicPr>
          <p:cNvPr id="29" name="Image 10" descr="preencoded.png">    </p:cNvPr>
          <p:cNvPicPr>
            <a:picLocks noChangeAspect="1"/>
          </p:cNvPicPr>
          <p:nvPr/>
        </p:nvPicPr>
        <p:blipFill>
          <a:blip r:embed="rId11"/>
          <a:srcRect l="0" r="0" t="0" b="0"/>
          <a:stretch/>
        </p:blipFill>
        <p:spPr>
          <a:xfrm>
            <a:off x="3249132" y="735030"/>
            <a:ext cx="50583" cy="69554"/>
          </a:xfrm>
          <a:prstGeom prst="rect">
            <a:avLst/>
          </a:prstGeom>
        </p:spPr>
      </p:pic>
      <p:sp>
        <p:nvSpPr>
          <p:cNvPr id="30" name="Shape 16"/>
          <p:cNvSpPr/>
          <p:nvPr/>
        </p:nvSpPr>
        <p:spPr>
          <a:xfrm>
            <a:off x="3588520" y="701606"/>
            <a:ext cx="1810079" cy="61707"/>
          </a:xfrm>
          <a:prstGeom prst="roundRect">
            <a:avLst/>
          </a:prstGeom>
          <a:solidFill>
            <a:srgbClr val="CBBDFF">
              <a:alpha val="30000"/>
            </a:srgbClr>
          </a:solidFill>
          <a:ln/>
        </p:spPr>
      </p:sp>
      <p:sp>
        <p:nvSpPr>
          <p:cNvPr id="31" name="Text 17"/>
          <p:cNvSpPr/>
          <p:nvPr/>
        </p:nvSpPr>
        <p:spPr>
          <a:xfrm>
            <a:off x="3629662" y="701606"/>
            <a:ext cx="1727803" cy="61707"/>
          </a:xfrm>
          <a:prstGeom prst="rect">
            <a:avLst/>
          </a:prstGeom>
          <a:noFill/>
          <a:ln/>
        </p:spPr>
        <p:txBody>
          <a:bodyPr wrap="square" lIns="0" tIns="0" rIns="0" bIns="0" rtlCol="0" anchor="ctr"/>
          <a:lstStyle/>
          <a:p>
            <a:pPr algn="ctr" indent="0" marL="0">
              <a:lnSpc>
                <a:spcPts val="427"/>
              </a:lnSpc>
              <a:buNone/>
            </a:pPr>
            <a:r>
              <a:rPr lang="en-US" sz="356" dirty="0">
                <a:solidFill>
                  <a:srgbClr val="FFFDFA">
                    <a:alpha val="99000"/>
                  </a:srgbClr>
                </a:solidFill>
                <a:latin typeface="Inter" pitchFamily="34" charset="0"/>
                <a:ea typeface="Inter" pitchFamily="34" charset="-122"/>
                <a:cs typeface="Inter" pitchFamily="34" charset="-120"/>
              </a:rPr>
              <a:t>https://www.appdynamics.com</a:t>
            </a:r>
            <a:endParaRPr lang="en-US" sz="356" dirty="0"/>
          </a:p>
        </p:txBody>
      </p:sp>
      <p:sp>
        <p:nvSpPr>
          <p:cNvPr id="32" name="Shape 18"/>
          <p:cNvSpPr/>
          <p:nvPr/>
        </p:nvSpPr>
        <p:spPr>
          <a:xfrm>
            <a:off x="3105150" y="792089"/>
            <a:ext cx="2776826" cy="1946350"/>
          </a:xfrm>
          <a:prstGeom prst="rect">
            <a:avLst/>
          </a:prstGeom>
          <a:noFill/>
          <a:ln/>
        </p:spPr>
      </p:sp>
      <p:pic>
        <p:nvPicPr>
          <p:cNvPr id="33" name="Image 11" descr="preencoded.png">    </p:cNvPr>
          <p:cNvPicPr>
            <a:picLocks noChangeAspect="1"/>
          </p:cNvPicPr>
          <p:nvPr/>
        </p:nvPicPr>
        <p:blipFill>
          <a:blip r:embed="rId12"/>
          <a:srcRect l="0" r="0" t="0" b="1228"/>
          <a:stretch/>
        </p:blipFill>
        <p:spPr>
          <a:xfrm>
            <a:off x="3107508" y="794449"/>
            <a:ext cx="2773863" cy="1943990"/>
          </a:xfrm>
          <a:prstGeom prst="rect">
            <a:avLst/>
          </a:prstGeom>
        </p:spPr>
      </p:pic>
      <p:pic>
        <p:nvPicPr>
          <p:cNvPr id="34" name="Image 12" descr="preencoded.png">    </p:cNvPr>
          <p:cNvPicPr>
            <a:picLocks noChangeAspect="1"/>
          </p:cNvPicPr>
          <p:nvPr/>
        </p:nvPicPr>
        <p:blipFill>
          <a:blip r:embed="rId13"/>
          <a:srcRect l="0" r="0" t="0" b="991"/>
          <a:stretch/>
        </p:blipFill>
        <p:spPr>
          <a:xfrm>
            <a:off x="3105150" y="794449"/>
            <a:ext cx="2773863" cy="1943990"/>
          </a:xfrm>
          <a:prstGeom prst="rect">
            <a:avLst/>
          </a:prstGeom>
        </p:spPr>
      </p:pic>
      <p:pic>
        <p:nvPicPr>
          <p:cNvPr id="35" name="Image 13" descr="preencoded.png">    </p:cNvPr>
          <p:cNvPicPr>
            <a:picLocks noChangeAspect="1"/>
          </p:cNvPicPr>
          <p:nvPr/>
        </p:nvPicPr>
        <p:blipFill>
          <a:blip r:embed="rId14"/>
          <a:srcRect l="0" r="0" t="0" b="1227"/>
          <a:stretch/>
        </p:blipFill>
        <p:spPr>
          <a:xfrm>
            <a:off x="3107508" y="792089"/>
            <a:ext cx="2773863" cy="1946350"/>
          </a:xfrm>
          <a:prstGeom prst="rect">
            <a:avLst/>
          </a:prstGeom>
        </p:spPr>
      </p:pic>
      <p:pic>
        <p:nvPicPr>
          <p:cNvPr id="36" name="Image 14" descr="preencoded.png">    </p:cNvPr>
          <p:cNvPicPr>
            <a:picLocks noChangeAspect="1"/>
          </p:cNvPicPr>
          <p:nvPr/>
        </p:nvPicPr>
        <p:blipFill>
          <a:blip r:embed="rId15"/>
          <a:srcRect l="0" r="0" t="0" b="1108"/>
          <a:stretch/>
        </p:blipFill>
        <p:spPr>
          <a:xfrm>
            <a:off x="3107508" y="792089"/>
            <a:ext cx="2773863" cy="1946350"/>
          </a:xfrm>
          <a:prstGeom prst="rect">
            <a:avLst/>
          </a:prstGeom>
        </p:spPr>
      </p:pic>
      <p:sp>
        <p:nvSpPr>
          <p:cNvPr id="37" name="Shape 19"/>
          <p:cNvSpPr/>
          <p:nvPr/>
        </p:nvSpPr>
        <p:spPr>
          <a:xfrm>
            <a:off x="4080960" y="2209735"/>
            <a:ext cx="219735" cy="89784"/>
          </a:xfrm>
          <a:prstGeom prst="rect">
            <a:avLst/>
          </a:prstGeom>
          <a:solidFill>
            <a:srgbClr val="C4C4C4">
              <a:alpha val="0"/>
            </a:srgbClr>
          </a:solidFill>
          <a:ln/>
        </p:spPr>
      </p:sp>
      <p:pic>
        <p:nvPicPr>
          <p:cNvPr id="38" name="Image 15" descr="preencoded.png">    </p:cNvPr>
          <p:cNvPicPr>
            <a:picLocks noChangeAspect="1"/>
          </p:cNvPicPr>
          <p:nvPr/>
        </p:nvPicPr>
        <p:blipFill>
          <a:blip r:embed="rId16"/>
          <a:srcRect l="0" r="0" t="0" b="0"/>
          <a:stretch/>
        </p:blipFill>
        <p:spPr>
          <a:xfrm>
            <a:off x="6029325" y="681038"/>
            <a:ext cx="2889372" cy="2157799"/>
          </a:xfrm>
          <a:prstGeom prst="rect">
            <a:avLst/>
          </a:prstGeom>
        </p:spPr>
      </p:pic>
      <p:pic>
        <p:nvPicPr>
          <p:cNvPr id="39" name="Image 16" descr="preencoded.png">    </p:cNvPr>
          <p:cNvPicPr>
            <a:picLocks noChangeAspect="1"/>
          </p:cNvPicPr>
          <p:nvPr/>
        </p:nvPicPr>
        <p:blipFill>
          <a:blip r:embed="rId17"/>
          <a:srcRect l="0" r="0" t="0" b="0"/>
          <a:stretch/>
        </p:blipFill>
        <p:spPr>
          <a:xfrm>
            <a:off x="6029325" y="681038"/>
            <a:ext cx="2855598" cy="138292"/>
          </a:xfrm>
          <a:prstGeom prst="rect">
            <a:avLst/>
          </a:prstGeom>
        </p:spPr>
      </p:pic>
      <p:sp>
        <p:nvSpPr>
          <p:cNvPr id="40" name="Shape 20"/>
          <p:cNvSpPr/>
          <p:nvPr/>
        </p:nvSpPr>
        <p:spPr>
          <a:xfrm>
            <a:off x="8589866" y="707164"/>
            <a:ext cx="52256" cy="52256"/>
          </a:xfrm>
          <a:prstGeom prst="ellipse">
            <a:avLst/>
          </a:prstGeom>
          <a:solidFill>
            <a:srgbClr val="7964C9"/>
          </a:solidFill>
          <a:ln/>
        </p:spPr>
      </p:sp>
      <p:sp>
        <p:nvSpPr>
          <p:cNvPr id="41" name="Shape 21"/>
          <p:cNvSpPr/>
          <p:nvPr/>
        </p:nvSpPr>
        <p:spPr>
          <a:xfrm>
            <a:off x="8673480" y="707164"/>
            <a:ext cx="52256" cy="52256"/>
          </a:xfrm>
          <a:prstGeom prst="ellipse">
            <a:avLst/>
          </a:prstGeom>
          <a:solidFill>
            <a:srgbClr val="7964C9"/>
          </a:solidFill>
          <a:ln/>
        </p:spPr>
      </p:sp>
      <p:sp>
        <p:nvSpPr>
          <p:cNvPr id="42" name="Shape 22"/>
          <p:cNvSpPr/>
          <p:nvPr/>
        </p:nvSpPr>
        <p:spPr>
          <a:xfrm>
            <a:off x="8757084" y="707164"/>
            <a:ext cx="52256" cy="52256"/>
          </a:xfrm>
          <a:prstGeom prst="ellipse">
            <a:avLst/>
          </a:prstGeom>
          <a:solidFill>
            <a:srgbClr val="7964C9"/>
          </a:solidFill>
          <a:ln/>
        </p:spPr>
      </p:sp>
      <p:pic>
        <p:nvPicPr>
          <p:cNvPr id="43" name="Image 17" descr="preencoded.png">    </p:cNvPr>
          <p:cNvPicPr>
            <a:picLocks noChangeAspect="1"/>
          </p:cNvPicPr>
          <p:nvPr/>
        </p:nvPicPr>
        <p:blipFill>
          <a:blip r:embed="rId18"/>
          <a:srcRect l="0" r="0" t="0" b="0"/>
          <a:stretch/>
        </p:blipFill>
        <p:spPr>
          <a:xfrm>
            <a:off x="6259255" y="712391"/>
            <a:ext cx="49574" cy="46027"/>
          </a:xfrm>
          <a:prstGeom prst="rect">
            <a:avLst/>
          </a:prstGeom>
        </p:spPr>
      </p:pic>
      <p:pic>
        <p:nvPicPr>
          <p:cNvPr id="44" name="Image 18" descr="preencoded.png">    </p:cNvPr>
          <p:cNvPicPr>
            <a:picLocks noChangeAspect="1"/>
          </p:cNvPicPr>
          <p:nvPr/>
        </p:nvPicPr>
        <p:blipFill>
          <a:blip r:embed="rId19"/>
          <a:srcRect l="0" r="0" t="0" b="0"/>
          <a:stretch/>
        </p:blipFill>
        <p:spPr>
          <a:xfrm>
            <a:off x="6175642" y="735906"/>
            <a:ext cx="46030" cy="31091"/>
          </a:xfrm>
          <a:prstGeom prst="rect">
            <a:avLst/>
          </a:prstGeom>
        </p:spPr>
      </p:pic>
      <p:sp>
        <p:nvSpPr>
          <p:cNvPr id="45" name="Shape 23"/>
          <p:cNvSpPr/>
          <p:nvPr/>
        </p:nvSpPr>
        <p:spPr>
          <a:xfrm>
            <a:off x="6520532" y="701939"/>
            <a:ext cx="1839411" cy="62707"/>
          </a:xfrm>
          <a:prstGeom prst="roundRect">
            <a:avLst/>
          </a:prstGeom>
          <a:solidFill>
            <a:srgbClr val="CBBDFF">
              <a:alpha val="30000"/>
            </a:srgbClr>
          </a:solidFill>
          <a:ln/>
        </p:spPr>
      </p:sp>
      <p:sp>
        <p:nvSpPr>
          <p:cNvPr id="46" name="Text 24"/>
          <p:cNvSpPr/>
          <p:nvPr/>
        </p:nvSpPr>
        <p:spPr>
          <a:xfrm>
            <a:off x="6562334" y="701939"/>
            <a:ext cx="1755801" cy="62707"/>
          </a:xfrm>
          <a:prstGeom prst="rect">
            <a:avLst/>
          </a:prstGeom>
          <a:noFill/>
          <a:ln/>
        </p:spPr>
        <p:txBody>
          <a:bodyPr wrap="square" lIns="0" tIns="0" rIns="0" bIns="0" rtlCol="0" anchor="ctr"/>
          <a:lstStyle/>
          <a:p>
            <a:pPr algn="ctr" indent="0" marL="0">
              <a:lnSpc>
                <a:spcPts val="379"/>
              </a:lnSpc>
              <a:buNone/>
            </a:pPr>
            <a:r>
              <a:rPr lang="en-US" sz="316" dirty="0">
                <a:solidFill>
                  <a:srgbClr val="FFFDFA">
                    <a:alpha val="99000"/>
                  </a:srgbClr>
                </a:solidFill>
                <a:latin typeface="Inter" pitchFamily="34" charset="0"/>
                <a:ea typeface="Inter" pitchFamily="34" charset="-122"/>
                <a:cs typeface="Inter" pitchFamily="34" charset="-120"/>
              </a:rPr>
              <a:t>https://www.appdynamics.com</a:t>
            </a:r>
            <a:endParaRPr lang="en-US" sz="316" dirty="0"/>
          </a:p>
        </p:txBody>
      </p:sp>
      <p:sp>
        <p:nvSpPr>
          <p:cNvPr id="47" name="Shape 25"/>
          <p:cNvSpPr/>
          <p:nvPr/>
        </p:nvSpPr>
        <p:spPr>
          <a:xfrm>
            <a:off x="6029325" y="793886"/>
            <a:ext cx="2821823" cy="1977889"/>
          </a:xfrm>
          <a:prstGeom prst="rect">
            <a:avLst/>
          </a:prstGeom>
          <a:noFill/>
          <a:ln/>
        </p:spPr>
      </p:sp>
      <p:pic>
        <p:nvPicPr>
          <p:cNvPr id="48" name="Image 19" descr="preencoded.png">    </p:cNvPr>
          <p:cNvPicPr>
            <a:picLocks noChangeAspect="1"/>
          </p:cNvPicPr>
          <p:nvPr/>
        </p:nvPicPr>
        <p:blipFill>
          <a:blip r:embed="rId20"/>
          <a:srcRect l="0" r="0" t="0" b="1229"/>
          <a:stretch/>
        </p:blipFill>
        <p:spPr>
          <a:xfrm>
            <a:off x="6031730" y="796289"/>
            <a:ext cx="2818809" cy="1975487"/>
          </a:xfrm>
          <a:prstGeom prst="rect">
            <a:avLst/>
          </a:prstGeom>
        </p:spPr>
      </p:pic>
      <p:pic>
        <p:nvPicPr>
          <p:cNvPr id="49" name="Image 20" descr="preencoded.png">    </p:cNvPr>
          <p:cNvPicPr>
            <a:picLocks noChangeAspect="1"/>
          </p:cNvPicPr>
          <p:nvPr/>
        </p:nvPicPr>
        <p:blipFill>
          <a:blip r:embed="rId21"/>
          <a:srcRect l="0" r="0" t="0" b="991"/>
          <a:stretch/>
        </p:blipFill>
        <p:spPr>
          <a:xfrm>
            <a:off x="6029330" y="796289"/>
            <a:ext cx="2818809" cy="1975487"/>
          </a:xfrm>
          <a:prstGeom prst="rect">
            <a:avLst/>
          </a:prstGeom>
        </p:spPr>
      </p:pic>
      <p:pic>
        <p:nvPicPr>
          <p:cNvPr id="50" name="Image 21" descr="preencoded.png">    </p:cNvPr>
          <p:cNvPicPr>
            <a:picLocks noChangeAspect="1"/>
          </p:cNvPicPr>
          <p:nvPr/>
        </p:nvPicPr>
        <p:blipFill>
          <a:blip r:embed="rId22"/>
          <a:srcRect l="0" r="0" t="0" b="1227"/>
          <a:stretch/>
        </p:blipFill>
        <p:spPr>
          <a:xfrm>
            <a:off x="6031730" y="793886"/>
            <a:ext cx="2818809" cy="1977889"/>
          </a:xfrm>
          <a:prstGeom prst="rect">
            <a:avLst/>
          </a:prstGeom>
        </p:spPr>
      </p:pic>
      <p:pic>
        <p:nvPicPr>
          <p:cNvPr id="51" name="Image 22" descr="preencoded.png">    </p:cNvPr>
          <p:cNvPicPr>
            <a:picLocks noChangeAspect="1"/>
          </p:cNvPicPr>
          <p:nvPr/>
        </p:nvPicPr>
        <p:blipFill>
          <a:blip r:embed="rId23"/>
          <a:srcRect l="0" r="0" t="0" b="1108"/>
          <a:stretch/>
        </p:blipFill>
        <p:spPr>
          <a:xfrm>
            <a:off x="6031730" y="793886"/>
            <a:ext cx="2818809" cy="1977889"/>
          </a:xfrm>
          <a:prstGeom prst="rect">
            <a:avLst/>
          </a:prstGeom>
        </p:spPr>
      </p:pic>
      <p:pic>
        <p:nvPicPr>
          <p:cNvPr id="52" name="Image 23" descr="preencoded.png">    </p:cNvPr>
          <p:cNvPicPr>
            <a:picLocks noChangeAspect="1"/>
          </p:cNvPicPr>
          <p:nvPr/>
        </p:nvPicPr>
        <p:blipFill>
          <a:blip r:embed="rId24"/>
          <a:srcRect l="0" r="0" t="0" b="2260"/>
          <a:stretch/>
        </p:blipFill>
        <p:spPr>
          <a:xfrm>
            <a:off x="6036752" y="819138"/>
            <a:ext cx="2811689" cy="1952637"/>
          </a:xfrm>
          <a:prstGeom prst="rect">
            <a:avLst/>
          </a:prstGeom>
        </p:spPr>
      </p:pic>
      <p:pic>
        <p:nvPicPr>
          <p:cNvPr id="53" name="Image 24" descr="preencoded.png">    </p:cNvPr>
          <p:cNvPicPr>
            <a:picLocks noChangeAspect="1"/>
          </p:cNvPicPr>
          <p:nvPr/>
        </p:nvPicPr>
        <p:blipFill>
          <a:blip r:embed="rId25"/>
          <a:srcRect l="0" r="0" t="0" b="0"/>
          <a:stretch/>
        </p:blipFill>
        <p:spPr>
          <a:xfrm>
            <a:off x="6999773" y="1102068"/>
            <a:ext cx="1753814" cy="433771"/>
          </a:xfrm>
          <a:prstGeom prst="rect">
            <a:avLst/>
          </a:prstGeom>
        </p:spPr>
      </p:pic>
      <p:pic>
        <p:nvPicPr>
          <p:cNvPr id="54" name="Image 25" descr="preencoded.png">    </p:cNvPr>
          <p:cNvPicPr>
            <a:picLocks noChangeAspect="1"/>
          </p:cNvPicPr>
          <p:nvPr/>
        </p:nvPicPr>
        <p:blipFill>
          <a:blip r:embed="rId26"/>
          <a:srcRect l="0" r="113" t="0" b="1330"/>
          <a:stretch/>
        </p:blipFill>
        <p:spPr>
          <a:xfrm>
            <a:off x="6036534" y="796286"/>
            <a:ext cx="2814614" cy="19754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10101"/>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800100" y="450056"/>
            <a:ext cx="7543800" cy="42433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3" name="Text 0"/>
          <p:cNvSpPr/>
          <p:nvPr/>
        </p:nvSpPr>
        <p:spPr>
          <a:xfrm>
            <a:off x="0" y="0"/>
            <a:ext cx="3952875" cy="247650"/>
          </a:xfrm>
          <a:prstGeom prst="rect">
            <a:avLst/>
          </a:prstGeom>
          <a:noFill/>
          <a:ln/>
        </p:spPr>
        <p:txBody>
          <a:bodyPr wrap="square" lIns="0" tIns="0" rIns="0" bIns="0" rtlCol="0" anchor="t"/>
          <a:lstStyle/>
          <a:p>
            <a:pPr algn="l" indent="0" marL="0">
              <a:lnSpc>
                <a:spcPts val="1852"/>
              </a:lnSpc>
              <a:buNone/>
            </a:pPr>
            <a:r>
              <a:rPr lang="en-US" sz="1852" spc="-41" kern="0" dirty="0">
                <a:solidFill>
                  <a:srgbClr val="FFFFFF">
                    <a:alpha val="99000"/>
                  </a:srgbClr>
                </a:solidFill>
                <a:latin typeface="Climate Crisis" pitchFamily="34" charset="0"/>
                <a:ea typeface="Climate Crisis" pitchFamily="34" charset="-122"/>
                <a:cs typeface="Climate Crisis" pitchFamily="34" charset="-120"/>
              </a:rPr>
              <a:t>Simplifying complexity</a:t>
            </a:r>
            <a:endParaRPr lang="en-US" sz="1852" dirty="0"/>
          </a:p>
        </p:txBody>
      </p:sp>
      <p:sp>
        <p:nvSpPr>
          <p:cNvPr id="4" name="Text 1"/>
          <p:cNvSpPr/>
          <p:nvPr/>
        </p:nvSpPr>
        <p:spPr>
          <a:xfrm>
            <a:off x="433388" y="1090613"/>
            <a:ext cx="1614488" cy="5334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Simplified complex flows: Redesigned the user journey for agent installation to reduce the number of steps by half.</a:t>
            </a:r>
            <a:endParaRPr lang="en-US" sz="748" dirty="0"/>
          </a:p>
        </p:txBody>
      </p:sp>
      <p:sp>
        <p:nvSpPr>
          <p:cNvPr id="5" name="Text 2"/>
          <p:cNvSpPr/>
          <p:nvPr/>
        </p:nvSpPr>
        <p:spPr>
          <a:xfrm>
            <a:off x="6543675" y="2676525"/>
            <a:ext cx="1766888" cy="40005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You also have the option to pick and choose between the type and versions of these agents</a:t>
            </a:r>
            <a:endParaRPr lang="en-US" sz="748" dirty="0"/>
          </a:p>
        </p:txBody>
      </p:sp>
      <p:sp>
        <p:nvSpPr>
          <p:cNvPr id="6" name="Text 3"/>
          <p:cNvSpPr/>
          <p:nvPr/>
        </p:nvSpPr>
        <p:spPr>
          <a:xfrm>
            <a:off x="6543675" y="4071938"/>
            <a:ext cx="1847850" cy="5334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Automated Process Detection: Enabled automatic detection of applications on the server, grouping them by relevance to reduce cognitive load.</a:t>
            </a:r>
            <a:endParaRPr lang="en-US" sz="748" dirty="0"/>
          </a:p>
        </p:txBody>
      </p:sp>
      <p:sp>
        <p:nvSpPr>
          <p:cNvPr id="7" name="Text 4"/>
          <p:cNvSpPr/>
          <p:nvPr/>
        </p:nvSpPr>
        <p:spPr>
          <a:xfrm>
            <a:off x="6524625" y="1900238"/>
            <a:ext cx="1847850" cy="2667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The controller will give you a code snippet</a:t>
            </a:r>
            <a:endParaRPr lang="en-US" sz="748" dirty="0"/>
          </a:p>
        </p:txBody>
      </p:sp>
      <p:pic>
        <p:nvPicPr>
          <p:cNvPr id="8" name="Image 0" descr="preencoded.png">    </p:cNvPr>
          <p:cNvPicPr>
            <a:picLocks noChangeAspect="1"/>
          </p:cNvPicPr>
          <p:nvPr/>
        </p:nvPicPr>
        <p:blipFill>
          <a:blip r:embed="rId1"/>
          <a:srcRect l="0" r="0" t="0" b="0"/>
          <a:stretch/>
        </p:blipFill>
        <p:spPr>
          <a:xfrm>
            <a:off x="6524625" y="566738"/>
            <a:ext cx="1696613" cy="2043461"/>
          </a:xfrm>
          <a:prstGeom prst="rect">
            <a:avLst/>
          </a:prstGeom>
        </p:spPr>
      </p:pic>
      <p:pic>
        <p:nvPicPr>
          <p:cNvPr id="9" name="Image 1" descr="preencoded.png">    </p:cNvPr>
          <p:cNvPicPr>
            <a:picLocks noChangeAspect="1"/>
          </p:cNvPicPr>
          <p:nvPr/>
        </p:nvPicPr>
        <p:blipFill>
          <a:blip r:embed="rId2"/>
          <a:srcRect l="0" r="0" t="0" b="0"/>
          <a:stretch/>
        </p:blipFill>
        <p:spPr>
          <a:xfrm>
            <a:off x="6353175" y="3395663"/>
            <a:ext cx="2724150" cy="476250"/>
          </a:xfrm>
          <a:prstGeom prst="rect">
            <a:avLst/>
          </a:prstGeom>
        </p:spPr>
      </p:pic>
      <p:pic>
        <p:nvPicPr>
          <p:cNvPr id="10" name="Image 2" descr="preencoded.png">    </p:cNvPr>
          <p:cNvPicPr>
            <a:picLocks noChangeAspect="1"/>
          </p:cNvPicPr>
          <p:nvPr/>
        </p:nvPicPr>
        <p:blipFill>
          <a:blip r:embed="rId3"/>
          <a:srcRect l="0" r="0" t="0" b="0"/>
          <a:stretch/>
        </p:blipFill>
        <p:spPr>
          <a:xfrm>
            <a:off x="2409825" y="609600"/>
            <a:ext cx="3838575" cy="4095750"/>
          </a:xfrm>
          <a:prstGeom prst="rect">
            <a:avLst/>
          </a:prstGeom>
        </p:spPr>
      </p:pic>
      <p:pic>
        <p:nvPicPr>
          <p:cNvPr id="11" name="Image 3" descr="preencoded.png">    </p:cNvPr>
          <p:cNvPicPr>
            <a:picLocks noChangeAspect="1"/>
          </p:cNvPicPr>
          <p:nvPr/>
        </p:nvPicPr>
        <p:blipFill>
          <a:blip r:embed="rId4"/>
          <a:srcRect l="0" r="0" t="0" b="0"/>
          <a:stretch/>
        </p:blipFill>
        <p:spPr>
          <a:xfrm>
            <a:off x="433388" y="1785938"/>
            <a:ext cx="1614488" cy="1781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390525" y="1290638"/>
            <a:ext cx="4181475" cy="2233613"/>
          </a:xfrm>
          <a:prstGeom prst="rect">
            <a:avLst/>
          </a:prstGeom>
        </p:spPr>
      </p:pic>
      <p:pic>
        <p:nvPicPr>
          <p:cNvPr id="4" name="Image 1" descr="preencoded.png">    </p:cNvPr>
          <p:cNvPicPr>
            <a:picLocks noChangeAspect="1"/>
          </p:cNvPicPr>
          <p:nvPr/>
        </p:nvPicPr>
        <p:blipFill>
          <a:blip r:embed="rId2"/>
          <a:srcRect l="0" r="0" t="0" b="0"/>
          <a:stretch/>
        </p:blipFill>
        <p:spPr>
          <a:xfrm>
            <a:off x="4867275" y="1290638"/>
            <a:ext cx="4048125" cy="2233613"/>
          </a:xfrm>
          <a:prstGeom prst="rect">
            <a:avLst/>
          </a:prstGeom>
        </p:spPr>
      </p:pic>
      <p:sp>
        <p:nvSpPr>
          <p:cNvPr id="5" name="Text 0"/>
          <p:cNvSpPr/>
          <p:nvPr/>
        </p:nvSpPr>
        <p:spPr>
          <a:xfrm>
            <a:off x="3090863" y="3719512"/>
            <a:ext cx="1614488" cy="2667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Customization and control to monitor only important tiers </a:t>
            </a:r>
            <a:endParaRPr lang="en-US" sz="748" dirty="0"/>
          </a:p>
        </p:txBody>
      </p:sp>
      <p:sp>
        <p:nvSpPr>
          <p:cNvPr id="6" name="Text 1"/>
          <p:cNvSpPr/>
          <p:nvPr/>
        </p:nvSpPr>
        <p:spPr>
          <a:xfrm>
            <a:off x="6305550" y="4386263"/>
            <a:ext cx="1976438" cy="2667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Putting control and customization directly in the hands of DevOps engineers </a:t>
            </a:r>
            <a:endParaRPr lang="en-US" sz="748" dirty="0"/>
          </a:p>
        </p:txBody>
      </p:sp>
      <p:sp>
        <p:nvSpPr>
          <p:cNvPr id="7" name="Text 2"/>
          <p:cNvSpPr/>
          <p:nvPr/>
        </p:nvSpPr>
        <p:spPr>
          <a:xfrm>
            <a:off x="3209925" y="609600"/>
            <a:ext cx="2957513" cy="2667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Time savings through automation, detection and user-friendly labeling improved accessibility and reduced cognitive load.</a:t>
            </a:r>
            <a:endParaRPr lang="en-US" sz="748" dirty="0"/>
          </a:p>
        </p:txBody>
      </p:sp>
      <p:sp>
        <p:nvSpPr>
          <p:cNvPr id="8" name="Text 3"/>
          <p:cNvSpPr/>
          <p:nvPr/>
        </p:nvSpPr>
        <p:spPr>
          <a:xfrm>
            <a:off x="6305550" y="3719512"/>
            <a:ext cx="1804988" cy="266700"/>
          </a:xfrm>
          <a:prstGeom prst="rect">
            <a:avLst/>
          </a:prstGeom>
          <a:noFill/>
          <a:ln/>
        </p:spPr>
        <p:txBody>
          <a:bodyPr wrap="square" lIns="0" tIns="0" rIns="0" bIns="0" rtlCol="0" anchor="t"/>
          <a:lstStyle/>
          <a:p>
            <a:pPr algn="l" indent="0" marL="0">
              <a:lnSpc>
                <a:spcPts val="1010"/>
              </a:lnSpc>
              <a:buNone/>
            </a:pPr>
            <a:r>
              <a:rPr lang="en-US" sz="748" dirty="0">
                <a:solidFill>
                  <a:srgbClr val="FFFFFF">
                    <a:alpha val="99000"/>
                  </a:srgbClr>
                </a:solidFill>
                <a:latin typeface="DM Sans" pitchFamily="34" charset="0"/>
                <a:ea typeface="DM Sans" pitchFamily="34" charset="-122"/>
                <a:cs typeface="DM Sans" pitchFamily="34" charset="-120"/>
              </a:rPr>
              <a:t>Automatically detected and processes visually mapped for monitoring </a:t>
            </a:r>
            <a:endParaRPr lang="en-US" sz="748" dirty="0"/>
          </a:p>
        </p:txBody>
      </p:sp>
      <p:sp>
        <p:nvSpPr>
          <p:cNvPr id="9" name="Shape 4"/>
          <p:cNvSpPr/>
          <p:nvPr/>
        </p:nvSpPr>
        <p:spPr>
          <a:xfrm rot="5400000">
            <a:off x="3545681" y="1035844"/>
            <a:ext cx="157163" cy="0"/>
          </a:xfrm>
          <a:prstGeom prst="line">
            <a:avLst/>
          </a:prstGeom>
          <a:noFill/>
          <a:ln w="18097">
            <a:solidFill>
              <a:srgbClr val="FFFFFF"/>
            </a:solidFill>
            <a:prstDash val="solid"/>
          </a:ln>
        </p:spPr>
      </p:sp>
      <p:sp>
        <p:nvSpPr>
          <p:cNvPr id="10" name="Shape 5"/>
          <p:cNvSpPr/>
          <p:nvPr/>
        </p:nvSpPr>
        <p:spPr>
          <a:xfrm rot="5400000">
            <a:off x="5645944" y="1035844"/>
            <a:ext cx="157163" cy="0"/>
          </a:xfrm>
          <a:prstGeom prst="line">
            <a:avLst/>
          </a:prstGeom>
          <a:noFill/>
          <a:ln w="18097">
            <a:solidFill>
              <a:srgbClr val="FFFFFF"/>
            </a:solidFill>
            <a:prstDash val="solid"/>
          </a:ln>
        </p:spPr>
      </p:sp>
      <p:sp>
        <p:nvSpPr>
          <p:cNvPr id="11" name="Shape 6"/>
          <p:cNvSpPr/>
          <p:nvPr/>
        </p:nvSpPr>
        <p:spPr>
          <a:xfrm rot="-5400000">
            <a:off x="3969544" y="3493294"/>
            <a:ext cx="290513" cy="0"/>
          </a:xfrm>
          <a:prstGeom prst="line">
            <a:avLst/>
          </a:prstGeom>
          <a:noFill/>
          <a:ln w="18097">
            <a:solidFill>
              <a:srgbClr val="FFFFFF"/>
            </a:solidFill>
            <a:prstDash val="solid"/>
          </a:ln>
        </p:spPr>
      </p:sp>
      <p:sp>
        <p:nvSpPr>
          <p:cNvPr id="12" name="Shape 7"/>
          <p:cNvSpPr/>
          <p:nvPr/>
        </p:nvSpPr>
        <p:spPr>
          <a:xfrm rot="5400000">
            <a:off x="5676900" y="4057650"/>
            <a:ext cx="838200" cy="0"/>
          </a:xfrm>
          <a:prstGeom prst="line">
            <a:avLst/>
          </a:prstGeom>
          <a:noFill/>
          <a:ln w="18097">
            <a:solidFill>
              <a:srgbClr val="FFFFFF"/>
            </a:solidFill>
            <a:prstDash val="solid"/>
          </a:ln>
        </p:spPr>
      </p:sp>
      <p:sp>
        <p:nvSpPr>
          <p:cNvPr id="13" name="Shape 8"/>
          <p:cNvSpPr/>
          <p:nvPr/>
        </p:nvSpPr>
        <p:spPr>
          <a:xfrm rot="0">
            <a:off x="6096000" y="3871913"/>
            <a:ext cx="138113" cy="0"/>
          </a:xfrm>
          <a:prstGeom prst="line">
            <a:avLst/>
          </a:prstGeom>
          <a:noFill/>
          <a:ln w="18097">
            <a:solidFill>
              <a:srgbClr val="FFFFFF"/>
            </a:solidFill>
            <a:prstDash val="solid"/>
          </a:ln>
        </p:spPr>
      </p:sp>
      <p:sp>
        <p:nvSpPr>
          <p:cNvPr id="14" name="Shape 9"/>
          <p:cNvSpPr/>
          <p:nvPr/>
        </p:nvSpPr>
        <p:spPr>
          <a:xfrm>
            <a:off x="6105525" y="4476750"/>
            <a:ext cx="128588" cy="0"/>
          </a:xfrm>
          <a:prstGeom prst="line">
            <a:avLst/>
          </a:prstGeom>
          <a:noFill/>
          <a:ln w="18097">
            <a:solidFill>
              <a:srgbClr val="FFFFFF"/>
            </a:solidFill>
            <a:prstDash val="solid"/>
          </a:ln>
        </p:spPr>
      </p:sp>
      <p:sp>
        <p:nvSpPr>
          <p:cNvPr id="15" name="Text 10"/>
          <p:cNvSpPr/>
          <p:nvPr/>
        </p:nvSpPr>
        <p:spPr>
          <a:xfrm>
            <a:off x="0" y="0"/>
            <a:ext cx="3952875" cy="247650"/>
          </a:xfrm>
          <a:prstGeom prst="rect">
            <a:avLst/>
          </a:prstGeom>
          <a:noFill/>
          <a:ln/>
        </p:spPr>
        <p:txBody>
          <a:bodyPr wrap="square" lIns="0" tIns="0" rIns="0" bIns="0" rtlCol="0" anchor="t"/>
          <a:lstStyle/>
          <a:p>
            <a:pPr algn="l" indent="0" marL="0">
              <a:lnSpc>
                <a:spcPts val="1852"/>
              </a:lnSpc>
              <a:buNone/>
            </a:pPr>
            <a:r>
              <a:rPr lang="en-US" sz="1852" spc="-41" kern="0" dirty="0">
                <a:solidFill>
                  <a:srgbClr val="FFFFFF">
                    <a:alpha val="99000"/>
                  </a:srgbClr>
                </a:solidFill>
                <a:latin typeface="Climate Crisis" pitchFamily="34" charset="0"/>
                <a:ea typeface="Climate Crisis" pitchFamily="34" charset="-122"/>
                <a:cs typeface="Climate Crisis" pitchFamily="34" charset="-120"/>
              </a:rPr>
              <a:t>Simplifying complexity</a:t>
            </a:r>
            <a:endParaRPr lang="en-US" sz="18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1083729" y="609600"/>
            <a:ext cx="6976532" cy="3924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1E6EC"/>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6480" t="0" b="0"/>
          <a:stretch/>
        </p:blipFill>
        <p:spPr>
          <a:xfrm>
            <a:off x="-276225" y="2800350"/>
            <a:ext cx="3986213" cy="2343150"/>
          </a:xfrm>
          <a:prstGeom prst="rect">
            <a:avLst/>
          </a:prstGeom>
        </p:spPr>
      </p:pic>
      <p:sp>
        <p:nvSpPr>
          <p:cNvPr id="4" name="Text 0"/>
          <p:cNvSpPr/>
          <p:nvPr/>
        </p:nvSpPr>
        <p:spPr>
          <a:xfrm>
            <a:off x="5405438" y="1438275"/>
            <a:ext cx="2943225" cy="409575"/>
          </a:xfrm>
          <a:prstGeom prst="rect">
            <a:avLst/>
          </a:prstGeom>
          <a:noFill/>
          <a:ln/>
        </p:spPr>
        <p:txBody>
          <a:bodyPr wrap="square" lIns="0" tIns="0" rIns="0" bIns="0" rtlCol="0" anchor="t"/>
          <a:lstStyle/>
          <a:p>
            <a:pPr algn="l" indent="0" marL="0">
              <a:lnSpc>
                <a:spcPts val="1539"/>
              </a:lnSpc>
              <a:buNone/>
            </a:pPr>
            <a:r>
              <a:rPr lang="en-US" sz="1140" b="1" dirty="0">
                <a:solidFill>
                  <a:srgbClr val="000000">
                    <a:alpha val="99000"/>
                  </a:srgbClr>
                </a:solidFill>
                <a:latin typeface="DM Sans" pitchFamily="34" charset="0"/>
                <a:ea typeface="DM Sans" pitchFamily="34" charset="-122"/>
                <a:cs typeface="DM Sans" pitchFamily="34" charset="-120"/>
              </a:rPr>
              <a:t>Time Savings</a:t>
            </a:r>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 Reduced setup time from MONTHS to MINUTES!</a:t>
            </a:r>
            <a:endParaRPr lang="en-US" sz="1140" dirty="0"/>
          </a:p>
        </p:txBody>
      </p:sp>
      <p:sp>
        <p:nvSpPr>
          <p:cNvPr id="5" name="Text 1"/>
          <p:cNvSpPr/>
          <p:nvPr/>
        </p:nvSpPr>
        <p:spPr>
          <a:xfrm>
            <a:off x="5405438" y="2371725"/>
            <a:ext cx="2943225" cy="819150"/>
          </a:xfrm>
          <a:prstGeom prst="rect">
            <a:avLst/>
          </a:prstGeom>
          <a:noFill/>
          <a:ln/>
        </p:spPr>
        <p:txBody>
          <a:bodyPr wrap="square" lIns="0" tIns="0" rIns="0" bIns="0" rtlCol="0" anchor="t"/>
          <a:lstStyle/>
          <a:p>
            <a:pPr algn="l" indent="0" marL="0">
              <a:lnSpc>
                <a:spcPts val="1539"/>
              </a:lnSpc>
              <a:buNone/>
            </a:pPr>
            <a:r>
              <a:rPr lang="en-US" sz="1140" b="1" dirty="0">
                <a:solidFill>
                  <a:srgbClr val="000000">
                    <a:alpha val="99000"/>
                  </a:srgbClr>
                </a:solidFill>
                <a:latin typeface="DM Sans" pitchFamily="34" charset="0"/>
                <a:ea typeface="DM Sans" pitchFamily="34" charset="-122"/>
                <a:cs typeface="DM Sans" pitchFamily="34" charset="-120"/>
              </a:rPr>
              <a:t>Customer Satisfaction</a:t>
            </a:r>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 User feedback showed significant improvement in ease of use and setup efficiency, leading to reduced support requests.</a:t>
            </a:r>
            <a:endParaRPr lang="en-US" sz="1140" dirty="0"/>
          </a:p>
        </p:txBody>
      </p:sp>
      <p:sp>
        <p:nvSpPr>
          <p:cNvPr id="6" name="Text 2"/>
          <p:cNvSpPr/>
          <p:nvPr/>
        </p:nvSpPr>
        <p:spPr>
          <a:xfrm>
            <a:off x="5410200" y="3714750"/>
            <a:ext cx="3090863" cy="819150"/>
          </a:xfrm>
          <a:prstGeom prst="rect">
            <a:avLst/>
          </a:prstGeom>
          <a:noFill/>
          <a:ln/>
        </p:spPr>
        <p:txBody>
          <a:bodyPr wrap="square" lIns="0" tIns="0" rIns="0" bIns="0" rtlCol="0" anchor="t"/>
          <a:lstStyle/>
          <a:p>
            <a:pPr algn="l" indent="0" marL="0">
              <a:lnSpc>
                <a:spcPts val="1539"/>
              </a:lnSpc>
              <a:buNone/>
            </a:pPr>
            <a:r>
              <a:rPr lang="en-US" sz="1140" b="1" dirty="0">
                <a:solidFill>
                  <a:srgbClr val="000000">
                    <a:alpha val="99000"/>
                  </a:srgbClr>
                </a:solidFill>
                <a:latin typeface="DM Sans" pitchFamily="34" charset="0"/>
                <a:ea typeface="DM Sans" pitchFamily="34" charset="-122"/>
                <a:cs typeface="DM Sans" pitchFamily="34" charset="-120"/>
              </a:rPr>
              <a:t>Business Impact</a:t>
            </a:r>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 The redesign helped retain customers who previously struggled with setup, aligning with the company’s business objective of reducing customer churn.</a:t>
            </a:r>
            <a:endParaRPr lang="en-US" sz="1140" dirty="0"/>
          </a:p>
        </p:txBody>
      </p:sp>
      <p:sp>
        <p:nvSpPr>
          <p:cNvPr id="7" name="Text 3"/>
          <p:cNvSpPr/>
          <p:nvPr/>
        </p:nvSpPr>
        <p:spPr>
          <a:xfrm>
            <a:off x="5076825" y="309563"/>
            <a:ext cx="1876425" cy="361950"/>
          </a:xfrm>
          <a:prstGeom prst="rect">
            <a:avLst/>
          </a:prstGeom>
          <a:noFill/>
          <a:ln/>
        </p:spPr>
        <p:txBody>
          <a:bodyPr wrap="square" lIns="0" tIns="0" rIns="0" bIns="0" rtlCol="0" anchor="t"/>
          <a:lstStyle/>
          <a:p>
            <a:pPr algn="l" indent="0" marL="0">
              <a:lnSpc>
                <a:spcPts val="2708"/>
              </a:lnSpc>
              <a:buNone/>
            </a:pPr>
            <a:r>
              <a:rPr lang="en-US" sz="2708" spc="-60" kern="0" dirty="0">
                <a:solidFill>
                  <a:srgbClr val="4E3EB1">
                    <a:alpha val="99000"/>
                  </a:srgbClr>
                </a:solidFill>
                <a:latin typeface="Climate Crisis" pitchFamily="34" charset="0"/>
                <a:ea typeface="Climate Crisis" pitchFamily="34" charset="-122"/>
                <a:cs typeface="Climate Crisis" pitchFamily="34" charset="-120"/>
              </a:rPr>
              <a:t>Results</a:t>
            </a:r>
            <a:endParaRPr lang="en-US" sz="2708" dirty="0"/>
          </a:p>
        </p:txBody>
      </p:sp>
      <p:sp>
        <p:nvSpPr>
          <p:cNvPr id="8" name="Text 4"/>
          <p:cNvSpPr/>
          <p:nvPr/>
        </p:nvSpPr>
        <p:spPr>
          <a:xfrm>
            <a:off x="5405438" y="1147763"/>
            <a:ext cx="366713"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01</a:t>
            </a:r>
            <a:endParaRPr lang="en-US" sz="1639" dirty="0"/>
          </a:p>
        </p:txBody>
      </p:sp>
      <p:sp>
        <p:nvSpPr>
          <p:cNvPr id="9" name="Text 5"/>
          <p:cNvSpPr/>
          <p:nvPr/>
        </p:nvSpPr>
        <p:spPr>
          <a:xfrm>
            <a:off x="5405438" y="2081212"/>
            <a:ext cx="466725"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02</a:t>
            </a:r>
            <a:endParaRPr lang="en-US" sz="1639" dirty="0"/>
          </a:p>
        </p:txBody>
      </p:sp>
      <p:sp>
        <p:nvSpPr>
          <p:cNvPr id="10" name="Text 6"/>
          <p:cNvSpPr/>
          <p:nvPr/>
        </p:nvSpPr>
        <p:spPr>
          <a:xfrm>
            <a:off x="5405438" y="3424238"/>
            <a:ext cx="481012" cy="219075"/>
          </a:xfrm>
          <a:prstGeom prst="rect">
            <a:avLst/>
          </a:prstGeom>
          <a:noFill/>
          <a:ln/>
        </p:spPr>
        <p:txBody>
          <a:bodyPr wrap="square" lIns="0" tIns="0" rIns="0" bIns="0" rtlCol="0" anchor="t"/>
          <a:lstStyle/>
          <a:p>
            <a:pPr algn="l" indent="0" marL="0">
              <a:lnSpc>
                <a:spcPts val="1639"/>
              </a:lnSpc>
              <a:buNone/>
            </a:pPr>
            <a:r>
              <a:rPr lang="en-US" sz="1639" spc="-36" kern="0" dirty="0">
                <a:solidFill>
                  <a:srgbClr val="4E3EB1">
                    <a:alpha val="99000"/>
                  </a:srgbClr>
                </a:solidFill>
                <a:latin typeface="Climate Crisis" pitchFamily="34" charset="0"/>
                <a:ea typeface="Climate Crisis" pitchFamily="34" charset="-122"/>
                <a:cs typeface="Climate Crisis" pitchFamily="34" charset="-120"/>
              </a:rPr>
              <a:t>03</a:t>
            </a:r>
            <a:endParaRPr lang="en-US" sz="1639" dirty="0"/>
          </a:p>
        </p:txBody>
      </p:sp>
      <p:pic>
        <p:nvPicPr>
          <p:cNvPr id="11" name="Image 1" descr="preencoded.png">    </p:cNvPr>
          <p:cNvPicPr>
            <a:picLocks noChangeAspect="1"/>
          </p:cNvPicPr>
          <p:nvPr/>
        </p:nvPicPr>
        <p:blipFill>
          <a:blip r:embed="rId2"/>
          <a:srcRect l="0" r="0" t="0" b="3534"/>
          <a:stretch/>
        </p:blipFill>
        <p:spPr>
          <a:xfrm>
            <a:off x="1066800" y="-142875"/>
            <a:ext cx="3503907" cy="3900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8909" t="0" b="11442"/>
          <a:stretch/>
        </p:blipFill>
        <p:spPr>
          <a:xfrm>
            <a:off x="-595312" y="1457325"/>
            <a:ext cx="6086475" cy="3686175"/>
          </a:xfrm>
          <a:prstGeom prst="rect">
            <a:avLst/>
          </a:prstGeom>
        </p:spPr>
      </p:pic>
      <p:sp>
        <p:nvSpPr>
          <p:cNvPr id="4" name="Text 0"/>
          <p:cNvSpPr/>
          <p:nvPr/>
        </p:nvSpPr>
        <p:spPr>
          <a:xfrm>
            <a:off x="585788" y="1457325"/>
            <a:ext cx="4675139" cy="614363"/>
          </a:xfrm>
          <a:prstGeom prst="rect">
            <a:avLst/>
          </a:prstGeom>
          <a:noFill/>
          <a:ln/>
        </p:spPr>
        <p:txBody>
          <a:bodyPr wrap="square" lIns="0" tIns="0" rIns="0" bIns="0" rtlCol="0" anchor="t"/>
          <a:lstStyle/>
          <a:p>
            <a:pPr algn="l" indent="0" marL="0">
              <a:lnSpc>
                <a:spcPts val="4609"/>
              </a:lnSpc>
              <a:buNone/>
            </a:pPr>
            <a:r>
              <a:rPr lang="en-US" sz="4609" spc="-101" kern="0" dirty="0">
                <a:solidFill>
                  <a:srgbClr val="5337B8">
                    <a:alpha val="99000"/>
                  </a:srgbClr>
                </a:solidFill>
                <a:latin typeface="Climate Crisis" pitchFamily="34" charset="0"/>
                <a:ea typeface="Climate Crisis" pitchFamily="34" charset="-122"/>
                <a:cs typeface="Climate Crisis" pitchFamily="34" charset="-120"/>
              </a:rPr>
              <a:t>Learnings</a:t>
            </a:r>
            <a:endParaRPr lang="en-US" sz="4609" dirty="0"/>
          </a:p>
        </p:txBody>
      </p:sp>
      <p:sp>
        <p:nvSpPr>
          <p:cNvPr id="5" name="Text 1"/>
          <p:cNvSpPr/>
          <p:nvPr/>
        </p:nvSpPr>
        <p:spPr>
          <a:xfrm>
            <a:off x="5695950" y="1457325"/>
            <a:ext cx="2943225" cy="2662238"/>
          </a:xfrm>
          <a:prstGeom prst="rect">
            <a:avLst/>
          </a:prstGeom>
          <a:noFill/>
          <a:ln/>
        </p:spPr>
        <p:txBody>
          <a:bodyPr wrap="square" lIns="0" tIns="0" rIns="0" bIns="0" rtlCol="0" anchor="t"/>
          <a:lstStyle/>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Importance of automation for large-scale deployments and building solutions to support complex environments with simplified user flows.</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Working closely with Engineering and Product taught me the value of ongoing alignment to ensure feasibility and maximize impact.</a:t>
            </a:r>
            <a:endParaRPr lang="en-US" sz="1140" dirty="0"/>
          </a:p>
          <a:p>
            <a:pPr algn="l" indent="0" marL="0">
              <a:lnSpc>
                <a:spcPts val="1539"/>
              </a:lnSpc>
              <a:buNone/>
            </a:pPr>
            <a:r>
              <a:rPr lang="en-US" sz="1140" dirty="0">
                <a:solidFill>
                  <a:srgbClr val="000000">
                    <a:alpha val="99000"/>
                  </a:srgbClr>
                </a:solidFill>
                <a:latin typeface="DM Sans" pitchFamily="34" charset="0"/>
                <a:ea typeface="DM Sans" pitchFamily="34" charset="-122"/>
                <a:cs typeface="DM Sans" pitchFamily="34" charset="-120"/>
              </a:rPr>
              <a:t>What Worked Well: Automation, detection and user-friendly labeling improved accessibility and reduced cognitive load.</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2026-09-21T02:13:20Z</dcterms:created>
  <dcterms:modified xsi:type="dcterms:W3CDTF">2026-09-21T02:13:20Z</dcterms:modified>
</cp:coreProperties>
</file>